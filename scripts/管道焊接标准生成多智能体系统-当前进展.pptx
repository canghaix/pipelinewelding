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5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0000" y="396000"/>
            <a:ext cx="2880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96F74"/>
                </a:solidFill>
                <a:latin typeface="Microsoft YaHei"/>
              </a:rPr>
              <a:t>Pipeline Welding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2000" y="720000"/>
            <a:ext cx="5400000" cy="75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0E2736"/>
                </a:solidFill>
                <a:latin typeface="Microsoft YaHei"/>
              </a:rPr>
              <a:t>管道焊接标准生成
多智能体系统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68000" y="1584000"/>
            <a:ext cx="360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2B393E"/>
                </a:solidFill>
                <a:latin typeface="Microsoft YaHei"/>
              </a:rPr>
              <a:t>当前阶段工作进展汇报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0000" y="2160000"/>
            <a:ext cx="1565999" cy="720000"/>
          </a:xfrm>
          <a:prstGeom prst="roundRect">
            <a:avLst/>
          </a:prstGeom>
          <a:solidFill>
            <a:srgbClr val="FFFFFF"/>
          </a:solidFill>
          <a:ln>
            <a:solidFill>
              <a:srgbClr val="D8E2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0000" y="2224800"/>
            <a:ext cx="1565999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196F74"/>
                </a:solidFill>
                <a:latin typeface="Microsoft YaHei"/>
              </a:rPr>
              <a:t>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3999" y="2548800"/>
            <a:ext cx="1458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>
                <a:solidFill>
                  <a:srgbClr val="647276"/>
                </a:solidFill>
                <a:latin typeface="Microsoft YaHei"/>
              </a:rPr>
              <a:t>PDF标准/规范解析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160000" y="2160000"/>
            <a:ext cx="1565999" cy="720000"/>
          </a:xfrm>
          <a:prstGeom prst="roundRect">
            <a:avLst/>
          </a:prstGeom>
          <a:solidFill>
            <a:srgbClr val="FFFFFF"/>
          </a:solidFill>
          <a:ln>
            <a:solidFill>
              <a:srgbClr val="D8E2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160000" y="2224800"/>
            <a:ext cx="1565999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386999"/>
                </a:solidFill>
                <a:latin typeface="Microsoft YaHei"/>
              </a:rPr>
              <a:t>1308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14000" y="2548800"/>
            <a:ext cx="1458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>
                <a:solidFill>
                  <a:srgbClr val="647276"/>
                </a:solidFill>
                <a:latin typeface="Microsoft YaHei"/>
              </a:rPr>
              <a:t>RAG Chunks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870000" y="2160000"/>
            <a:ext cx="1565999" cy="720000"/>
          </a:xfrm>
          <a:prstGeom prst="roundRect">
            <a:avLst/>
          </a:prstGeom>
          <a:solidFill>
            <a:srgbClr val="FFFFFF"/>
          </a:solidFill>
          <a:ln>
            <a:solidFill>
              <a:srgbClr val="D8E2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70000" y="2224800"/>
            <a:ext cx="1565999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70914C"/>
                </a:solidFill>
                <a:latin typeface="Microsoft YaHei"/>
              </a:rPr>
              <a:t>1024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24000" y="2548800"/>
            <a:ext cx="1458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>
                <a:solidFill>
                  <a:srgbClr val="647276"/>
                </a:solidFill>
                <a:latin typeface="Microsoft YaHei"/>
              </a:rPr>
              <a:t>BGE-M3向量维度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580000" y="2160000"/>
            <a:ext cx="1565999" cy="720000"/>
          </a:xfrm>
          <a:prstGeom prst="roundRect">
            <a:avLst/>
          </a:prstGeom>
          <a:solidFill>
            <a:srgbClr val="FFFFFF"/>
          </a:solidFill>
          <a:ln>
            <a:solidFill>
              <a:srgbClr val="D8E2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580000" y="2224800"/>
            <a:ext cx="1565999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C47E23"/>
                </a:solidFill>
                <a:latin typeface="Microsoft YaHei"/>
              </a:rPr>
              <a:t>44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34000" y="2548800"/>
            <a:ext cx="1458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>
                <a:solidFill>
                  <a:srgbClr val="647276"/>
                </a:solidFill>
                <a:latin typeface="Microsoft YaHei"/>
              </a:rPr>
              <a:t>自动化测试通过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8000" y="3276000"/>
            <a:ext cx="720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47276"/>
                </a:solidFill>
                <a:latin typeface="Microsoft YaHei"/>
              </a:rPr>
              <a:t>MinerU · FAISS · BGE-M3 · BGE-Reranker · Tavily · Vue/FastAPI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5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2000" y="234000"/>
            <a:ext cx="792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96F74"/>
                </a:solidFill>
                <a:latin typeface="Microsoft YaHei"/>
              </a:rP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2000" y="424800"/>
            <a:ext cx="774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E2736"/>
                </a:solidFill>
                <a:latin typeface="Microsoft YaHei"/>
              </a:rPr>
              <a:t>本阶段目标与完成概览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0000" y="741600"/>
            <a:ext cx="7920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0">
                <a:solidFill>
                  <a:srgbClr val="647276"/>
                </a:solidFill>
                <a:latin typeface="Microsoft YaHei"/>
              </a:rPr>
              <a:t>围绕“可溯源知识库 + RAG检索 + 非专业入口”完善端到端生成链路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2000" y="1080000"/>
            <a:ext cx="2484000" cy="115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32000" y="1080000"/>
            <a:ext cx="28800" cy="1152000"/>
          </a:xfrm>
          <a:prstGeom prst="rect">
            <a:avLst/>
          </a:prstGeom>
          <a:solidFill>
            <a:srgbClr val="196F74"/>
          </a:solidFill>
          <a:ln>
            <a:solidFill>
              <a:srgbClr val="196F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57999" y="1180800"/>
            <a:ext cx="22680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E2736"/>
                </a:solidFill>
                <a:latin typeface="Microsoft YaHei"/>
              </a:rPr>
              <a:t>知识底座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57999" y="1404000"/>
            <a:ext cx="2268000" cy="77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2B393E"/>
                </a:solidFill>
                <a:latin typeface="Microsoft YaHei"/>
              </a:rPr>
              <a:t>使用 MinerU 解析 docs 中焊接标准 PDF，生成面向向量库的 JSONL chunk。表格 chunk 保留文件名、页码、表头、上下文、标题和脚注。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060000" y="1080000"/>
            <a:ext cx="2484000" cy="115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060000" y="1080000"/>
            <a:ext cx="28800" cy="1152000"/>
          </a:xfrm>
          <a:prstGeom prst="rect">
            <a:avLst/>
          </a:prstGeom>
          <a:solidFill>
            <a:srgbClr val="386999"/>
          </a:solidFill>
          <a:ln>
            <a:solidFill>
              <a:srgbClr val="386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186000" y="1180800"/>
            <a:ext cx="22680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E2736"/>
                </a:solidFill>
                <a:latin typeface="Microsoft YaHei"/>
              </a:rPr>
              <a:t>检索增强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86000" y="1404000"/>
            <a:ext cx="2268000" cy="77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2B393E"/>
                </a:solidFill>
                <a:latin typeface="Microsoft YaHei"/>
              </a:rPr>
              <a:t>建立 FAISS 向量库；RAG 检索同时包含 BGE-M3 语义召回和 BM25 关键词召回，RRF 融合后使用 BGE-Reranker 精排。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88000" y="1080000"/>
            <a:ext cx="2484000" cy="115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688000" y="1080000"/>
            <a:ext cx="28800" cy="1152000"/>
          </a:xfrm>
          <a:prstGeom prst="rect">
            <a:avLst/>
          </a:prstGeom>
          <a:solidFill>
            <a:srgbClr val="70914C"/>
          </a:solidFill>
          <a:ln>
            <a:solidFill>
              <a:srgbClr val="7091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14000" y="1180800"/>
            <a:ext cx="22680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E2736"/>
                </a:solidFill>
                <a:latin typeface="Microsoft YaHei"/>
              </a:rPr>
              <a:t>产品入口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14000" y="1404000"/>
            <a:ext cx="2268000" cy="77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2B393E"/>
                </a:solidFill>
                <a:latin typeface="Microsoft YaHei"/>
              </a:rPr>
              <a:t>前端新增非专业描述模式，用户可输入自然语言需求，由新智能体自动识别必填字段并进入标准文档生成流程。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2000" y="2448000"/>
            <a:ext cx="3744000" cy="91799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32000" y="2448000"/>
            <a:ext cx="28800" cy="917999"/>
          </a:xfrm>
          <a:prstGeom prst="rect">
            <a:avLst/>
          </a:prstGeom>
          <a:solidFill>
            <a:srgbClr val="C47E23"/>
          </a:solidFill>
          <a:ln>
            <a:solidFill>
              <a:srgbClr val="C47E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57999" y="2548800"/>
            <a:ext cx="35280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E2736"/>
                </a:solidFill>
                <a:latin typeface="Microsoft YaHei"/>
              </a:rPr>
              <a:t>当前可运行链路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57999" y="2772000"/>
            <a:ext cx="3528000" cy="539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2B393E"/>
                </a:solidFill>
                <a:latin typeface="Microsoft YaHei"/>
              </a:rPr>
              <a:t>非专业描述 / 专业问答 → 必填字段校验 → RAG优先标准制定 → DOCX模板填充 → 下载生成文档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428000" y="2448000"/>
            <a:ext cx="3744000" cy="91799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428000" y="2448000"/>
            <a:ext cx="28800" cy="917999"/>
          </a:xfrm>
          <a:prstGeom prst="rect">
            <a:avLst/>
          </a:prstGeom>
          <a:solidFill>
            <a:srgbClr val="196F74"/>
          </a:solidFill>
          <a:ln>
            <a:solidFill>
              <a:srgbClr val="196F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54000" y="2548800"/>
            <a:ext cx="35280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E2736"/>
                </a:solidFill>
                <a:latin typeface="Microsoft YaHei"/>
              </a:rPr>
              <a:t>质量保障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54000" y="2772000"/>
            <a:ext cx="3528000" cy="539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2B393E"/>
                </a:solidFill>
                <a:latin typeface="Microsoft YaHei"/>
              </a:rPr>
              <a:t>后端回归测试 44 项通过；前端 npm run build 通过；模型服务异常时非专业解析可退化为规则抽取，避免前端白屏。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5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2000" y="234000"/>
            <a:ext cx="792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96F74"/>
                </a:solidFill>
                <a:latin typeface="Microsoft YaHei"/>
              </a:rP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2000" y="424800"/>
            <a:ext cx="774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E2736"/>
                </a:solidFill>
                <a:latin typeface="Microsoft YaHei"/>
              </a:rPr>
              <a:t>PDF知识库构建：MinerU解析与Chunk设计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0000" y="741600"/>
            <a:ext cx="7920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0">
                <a:solidFill>
                  <a:srgbClr val="647276"/>
                </a:solidFill>
                <a:latin typeface="Microsoft YaHei"/>
              </a:rPr>
              <a:t>从分散标准文档到可向量检索、可追溯的结构化知识资产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2000" y="1080000"/>
            <a:ext cx="1422000" cy="774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32000" y="1080000"/>
            <a:ext cx="28800" cy="774000"/>
          </a:xfrm>
          <a:prstGeom prst="rect">
            <a:avLst/>
          </a:prstGeom>
          <a:solidFill>
            <a:srgbClr val="196F74"/>
          </a:solidFill>
          <a:ln>
            <a:solidFill>
              <a:srgbClr val="196F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57999" y="1180800"/>
            <a:ext cx="12060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E2736"/>
                </a:solidFill>
                <a:latin typeface="Microsoft YaHei"/>
              </a:rPr>
              <a:t>PDF输入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57999" y="1404000"/>
            <a:ext cx="1206000" cy="395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2B393E"/>
                </a:solidFill>
                <a:latin typeface="Microsoft YaHei"/>
              </a:rPr>
              <a:t>docs/*.pdf
11份标准/规范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872000" y="1468800"/>
            <a:ext cx="115200" cy="0"/>
          </a:xfrm>
          <a:prstGeom prst="line">
            <a:avLst/>
          </a:prstGeom>
          <a:ln w="25400">
            <a:solidFill>
              <a:srgbClr val="196F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016000" y="1080000"/>
            <a:ext cx="1422000" cy="774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016000" y="1080000"/>
            <a:ext cx="28800" cy="774000"/>
          </a:xfrm>
          <a:prstGeom prst="rect">
            <a:avLst/>
          </a:prstGeom>
          <a:solidFill>
            <a:srgbClr val="386999"/>
          </a:solidFill>
          <a:ln>
            <a:solidFill>
              <a:srgbClr val="386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142000" y="1180800"/>
            <a:ext cx="12060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E2736"/>
                </a:solidFill>
                <a:latin typeface="Microsoft YaHei"/>
              </a:rPr>
              <a:t>MinerU解析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42000" y="1404000"/>
            <a:ext cx="1206000" cy="395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2B393E"/>
                </a:solidFill>
                <a:latin typeface="Microsoft YaHei"/>
              </a:rPr>
              <a:t>content_list_v2
Markdown/中间JSON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456000" y="1468800"/>
            <a:ext cx="115200" cy="0"/>
          </a:xfrm>
          <a:prstGeom prst="line">
            <a:avLst/>
          </a:prstGeom>
          <a:ln w="25400">
            <a:solidFill>
              <a:srgbClr val="196F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3600000" y="1080000"/>
            <a:ext cx="1422000" cy="774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600000" y="1080000"/>
            <a:ext cx="28800" cy="774000"/>
          </a:xfrm>
          <a:prstGeom prst="rect">
            <a:avLst/>
          </a:prstGeom>
          <a:solidFill>
            <a:srgbClr val="70914C"/>
          </a:solidFill>
          <a:ln>
            <a:solidFill>
              <a:srgbClr val="7091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26000" y="1180800"/>
            <a:ext cx="12060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E2736"/>
                </a:solidFill>
                <a:latin typeface="Microsoft YaHei"/>
              </a:rPr>
              <a:t>Chunk生成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26000" y="1404000"/>
            <a:ext cx="1206000" cy="395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2B393E"/>
                </a:solidFill>
                <a:latin typeface="Microsoft YaHei"/>
              </a:rPr>
              <a:t>文本/表格分块
上下文窗口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040000" y="1468800"/>
            <a:ext cx="115199" cy="0"/>
          </a:xfrm>
          <a:prstGeom prst="line">
            <a:avLst/>
          </a:prstGeom>
          <a:ln w="25400">
            <a:solidFill>
              <a:srgbClr val="196F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5184000" y="1080000"/>
            <a:ext cx="1422000" cy="774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184000" y="1080000"/>
            <a:ext cx="28800" cy="774000"/>
          </a:xfrm>
          <a:prstGeom prst="rect">
            <a:avLst/>
          </a:prstGeom>
          <a:solidFill>
            <a:srgbClr val="C47E23"/>
          </a:solidFill>
          <a:ln>
            <a:solidFill>
              <a:srgbClr val="C47E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310000" y="1180800"/>
            <a:ext cx="12060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E2736"/>
                </a:solidFill>
                <a:latin typeface="Microsoft YaHei"/>
              </a:rPr>
              <a:t>溯源字段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10000" y="1404000"/>
            <a:ext cx="1206000" cy="395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2B393E"/>
                </a:solidFill>
                <a:latin typeface="Microsoft YaHei"/>
              </a:rPr>
              <a:t>文件名/页码/表头
caption/footnote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6624000" y="1468800"/>
            <a:ext cx="115200" cy="0"/>
          </a:xfrm>
          <a:prstGeom prst="line">
            <a:avLst/>
          </a:prstGeom>
          <a:ln w="25400">
            <a:solidFill>
              <a:srgbClr val="196F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6768000" y="1080000"/>
            <a:ext cx="1422000" cy="774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768000" y="1080000"/>
            <a:ext cx="28800" cy="774000"/>
          </a:xfrm>
          <a:prstGeom prst="rect">
            <a:avLst/>
          </a:prstGeom>
          <a:solidFill>
            <a:srgbClr val="196F74"/>
          </a:solidFill>
          <a:ln>
            <a:solidFill>
              <a:srgbClr val="196F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94000" y="1180800"/>
            <a:ext cx="12060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E2736"/>
                </a:solidFill>
                <a:latin typeface="Microsoft YaHei"/>
              </a:rPr>
              <a:t>JSONL输出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94000" y="1404000"/>
            <a:ext cx="1206000" cy="395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2B393E"/>
                </a:solidFill>
                <a:latin typeface="Microsoft YaHei"/>
              </a:rPr>
              <a:t>data/rag/pdf_chunks.jsonl
by_file旁路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32000" y="2304000"/>
            <a:ext cx="2484000" cy="91799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32000" y="2304000"/>
            <a:ext cx="28800" cy="917999"/>
          </a:xfrm>
          <a:prstGeom prst="rect">
            <a:avLst/>
          </a:prstGeom>
          <a:solidFill>
            <a:srgbClr val="196F74"/>
          </a:solidFill>
          <a:ln>
            <a:solidFill>
              <a:srgbClr val="196F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57999" y="2404800"/>
            <a:ext cx="22680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E2736"/>
                </a:solidFill>
                <a:latin typeface="Microsoft YaHei"/>
              </a:rPr>
              <a:t>表格重点处理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57999" y="2628000"/>
            <a:ext cx="2268000" cy="539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2B393E"/>
                </a:solidFill>
                <a:latin typeface="Microsoft YaHei"/>
              </a:rPr>
              <a:t>大表可按行拆分，每个子表重复携带完整表头和相同溯源信息，保证后续 RAG 命中表格片段时能回到原文位置。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060000" y="2304000"/>
            <a:ext cx="2484000" cy="91799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060000" y="2304000"/>
            <a:ext cx="28800" cy="917999"/>
          </a:xfrm>
          <a:prstGeom prst="rect">
            <a:avLst/>
          </a:prstGeom>
          <a:solidFill>
            <a:srgbClr val="386999"/>
          </a:solidFill>
          <a:ln>
            <a:solidFill>
              <a:srgbClr val="386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186000" y="2404800"/>
            <a:ext cx="22680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E2736"/>
                </a:solidFill>
                <a:latin typeface="Microsoft YaHei"/>
              </a:rPr>
              <a:t>上下文增强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186000" y="2628000"/>
            <a:ext cx="2268000" cy="539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2B393E"/>
                </a:solidFill>
                <a:latin typeface="Microsoft YaHei"/>
              </a:rPr>
              <a:t>表格 chunk 中加入表格前后 1-3 个文本块，减少孤立表格无法判断适用条件的问题。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688000" y="2304000"/>
            <a:ext cx="2484000" cy="91799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688000" y="2304000"/>
            <a:ext cx="28800" cy="917999"/>
          </a:xfrm>
          <a:prstGeom prst="rect">
            <a:avLst/>
          </a:prstGeom>
          <a:solidFill>
            <a:srgbClr val="70914C"/>
          </a:solidFill>
          <a:ln>
            <a:solidFill>
              <a:srgbClr val="7091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814000" y="2404800"/>
            <a:ext cx="22680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E2736"/>
                </a:solidFill>
                <a:latin typeface="Microsoft YaHei"/>
              </a:rPr>
              <a:t>产物管理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814000" y="2628000"/>
            <a:ext cx="2268000" cy="539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2B393E"/>
                </a:solidFill>
                <a:latin typeface="Microsoft YaHei"/>
              </a:rPr>
              <a:t>保留 MinerU 原始输出、按文件 chunks、summary 与 manifest，便于审计、重跑和问题定位。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5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2000" y="234000"/>
            <a:ext cx="792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96F74"/>
                </a:solidFill>
                <a:latin typeface="Microsoft YaHei"/>
              </a:rP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2000" y="424800"/>
            <a:ext cx="774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E2736"/>
                </a:solidFill>
                <a:latin typeface="Microsoft YaHei"/>
              </a:rPr>
              <a:t>向量入库与混合检索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0000" y="741600"/>
            <a:ext cx="7920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0">
                <a:solidFill>
                  <a:srgbClr val="647276"/>
                </a:solidFill>
                <a:latin typeface="Microsoft YaHei"/>
              </a:rPr>
              <a:t>FAISS 不作为独立服务启动，运行时由检索程序直接读取本地索引文件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2000" y="1080000"/>
            <a:ext cx="1565999" cy="720000"/>
          </a:xfrm>
          <a:prstGeom prst="roundRect">
            <a:avLst/>
          </a:prstGeom>
          <a:solidFill>
            <a:srgbClr val="FFFFFF"/>
          </a:solidFill>
          <a:ln>
            <a:solidFill>
              <a:srgbClr val="D8E2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32000" y="1144800"/>
            <a:ext cx="1565999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196F74"/>
                </a:solidFill>
                <a:latin typeface="Microsoft YaHei"/>
              </a:rPr>
              <a:t>1308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5999" y="1468800"/>
            <a:ext cx="1458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>
                <a:solidFill>
                  <a:srgbClr val="647276"/>
                </a:solidFill>
                <a:latin typeface="Microsoft YaHei"/>
              </a:rPr>
              <a:t>向量条目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160000" y="1080000"/>
            <a:ext cx="1565999" cy="720000"/>
          </a:xfrm>
          <a:prstGeom prst="roundRect">
            <a:avLst/>
          </a:prstGeom>
          <a:solidFill>
            <a:srgbClr val="FFFFFF"/>
          </a:solidFill>
          <a:ln>
            <a:solidFill>
              <a:srgbClr val="D8E2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160000" y="1144800"/>
            <a:ext cx="1565999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386999"/>
                </a:solidFill>
                <a:latin typeface="Microsoft YaHei"/>
              </a:rPr>
              <a:t>1024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14000" y="1468800"/>
            <a:ext cx="1458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>
                <a:solidFill>
                  <a:srgbClr val="647276"/>
                </a:solidFill>
                <a:latin typeface="Microsoft YaHei"/>
              </a:rPr>
              <a:t>向量维度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888000" y="1080000"/>
            <a:ext cx="1565999" cy="720000"/>
          </a:xfrm>
          <a:prstGeom prst="roundRect">
            <a:avLst/>
          </a:prstGeom>
          <a:solidFill>
            <a:srgbClr val="FFFFFF"/>
          </a:solidFill>
          <a:ln>
            <a:solidFill>
              <a:srgbClr val="D8E2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88000" y="1144800"/>
            <a:ext cx="1565999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70914C"/>
                </a:solidFill>
                <a:latin typeface="Microsoft YaHei"/>
              </a:rPr>
              <a:t>Top10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42000" y="1468800"/>
            <a:ext cx="1458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>
                <a:solidFill>
                  <a:srgbClr val="647276"/>
                </a:solidFill>
                <a:latin typeface="Microsoft YaHei"/>
              </a:rPr>
              <a:t>BGE-M3粗召回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16000" y="1080000"/>
            <a:ext cx="1565999" cy="720000"/>
          </a:xfrm>
          <a:prstGeom prst="roundRect">
            <a:avLst/>
          </a:prstGeom>
          <a:solidFill>
            <a:srgbClr val="FFFFFF"/>
          </a:solidFill>
          <a:ln>
            <a:solidFill>
              <a:srgbClr val="D8E2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16000" y="1144800"/>
            <a:ext cx="1565999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C47E23"/>
                </a:solidFill>
                <a:latin typeface="Microsoft YaHei"/>
              </a:rPr>
              <a:t>Top5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70000" y="1468800"/>
            <a:ext cx="1458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>
                <a:solidFill>
                  <a:srgbClr val="647276"/>
                </a:solidFill>
                <a:latin typeface="Microsoft YaHei"/>
              </a:rPr>
              <a:t>Reranker精排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2000" y="2214000"/>
            <a:ext cx="1422000" cy="774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32000" y="2214000"/>
            <a:ext cx="28800" cy="774000"/>
          </a:xfrm>
          <a:prstGeom prst="rect">
            <a:avLst/>
          </a:prstGeom>
          <a:solidFill>
            <a:srgbClr val="196F74"/>
          </a:solidFill>
          <a:ln>
            <a:solidFill>
              <a:srgbClr val="196F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57999" y="2314800"/>
            <a:ext cx="12060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E2736"/>
                </a:solidFill>
                <a:latin typeface="Microsoft YaHei"/>
              </a:rPr>
              <a:t>Query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57999" y="2538000"/>
            <a:ext cx="1206000" cy="395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2B393E"/>
                </a:solidFill>
                <a:latin typeface="Microsoft YaHei"/>
              </a:rPr>
              <a:t>用户字段/问题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1872000" y="2602800"/>
            <a:ext cx="115200" cy="0"/>
          </a:xfrm>
          <a:prstGeom prst="line">
            <a:avLst/>
          </a:prstGeom>
          <a:ln w="25400">
            <a:solidFill>
              <a:srgbClr val="196F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2016000" y="2214000"/>
            <a:ext cx="1422000" cy="774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016000" y="2214000"/>
            <a:ext cx="28800" cy="774000"/>
          </a:xfrm>
          <a:prstGeom prst="rect">
            <a:avLst/>
          </a:prstGeom>
          <a:solidFill>
            <a:srgbClr val="386999"/>
          </a:solidFill>
          <a:ln>
            <a:solidFill>
              <a:srgbClr val="386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142000" y="2314800"/>
            <a:ext cx="12060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E2736"/>
                </a:solidFill>
                <a:latin typeface="Microsoft YaHei"/>
              </a:rPr>
              <a:t>BGE-M3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42000" y="2538000"/>
            <a:ext cx="1206000" cy="395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2B393E"/>
                </a:solidFill>
                <a:latin typeface="Microsoft YaHei"/>
              </a:rPr>
              <a:t>语义召回 Top10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3456000" y="2602800"/>
            <a:ext cx="115200" cy="0"/>
          </a:xfrm>
          <a:prstGeom prst="line">
            <a:avLst/>
          </a:prstGeom>
          <a:ln w="25400">
            <a:solidFill>
              <a:srgbClr val="196F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3600000" y="2214000"/>
            <a:ext cx="1422000" cy="774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600000" y="2214000"/>
            <a:ext cx="28800" cy="774000"/>
          </a:xfrm>
          <a:prstGeom prst="rect">
            <a:avLst/>
          </a:prstGeom>
          <a:solidFill>
            <a:srgbClr val="70914C"/>
          </a:solidFill>
          <a:ln>
            <a:solidFill>
              <a:srgbClr val="7091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726000" y="2314800"/>
            <a:ext cx="12060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E2736"/>
                </a:solidFill>
                <a:latin typeface="Microsoft YaHei"/>
              </a:rPr>
              <a:t>BM25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726000" y="2538000"/>
            <a:ext cx="1206000" cy="395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2B393E"/>
                </a:solidFill>
                <a:latin typeface="Microsoft YaHei"/>
              </a:rPr>
              <a:t>关键词召回 Top10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5040000" y="2602800"/>
            <a:ext cx="115199" cy="0"/>
          </a:xfrm>
          <a:prstGeom prst="line">
            <a:avLst/>
          </a:prstGeom>
          <a:ln w="25400">
            <a:solidFill>
              <a:srgbClr val="196F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5184000" y="2214000"/>
            <a:ext cx="1422000" cy="774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184000" y="2214000"/>
            <a:ext cx="28800" cy="774000"/>
          </a:xfrm>
          <a:prstGeom prst="rect">
            <a:avLst/>
          </a:prstGeom>
          <a:solidFill>
            <a:srgbClr val="C47E23"/>
          </a:solidFill>
          <a:ln>
            <a:solidFill>
              <a:srgbClr val="C47E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310000" y="2314800"/>
            <a:ext cx="12060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E2736"/>
                </a:solidFill>
                <a:latin typeface="Microsoft YaHei"/>
              </a:rPr>
              <a:t>RRF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310000" y="2538000"/>
            <a:ext cx="1206000" cy="395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2B393E"/>
                </a:solidFill>
                <a:latin typeface="Microsoft YaHei"/>
              </a:rPr>
              <a:t>k=60 融合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6624000" y="2602800"/>
            <a:ext cx="115200" cy="0"/>
          </a:xfrm>
          <a:prstGeom prst="line">
            <a:avLst/>
          </a:prstGeom>
          <a:ln w="25400">
            <a:solidFill>
              <a:srgbClr val="196F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6"/>
          <p:cNvSpPr/>
          <p:nvPr/>
        </p:nvSpPr>
        <p:spPr>
          <a:xfrm>
            <a:off x="6768000" y="2214000"/>
            <a:ext cx="1422000" cy="774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768000" y="2214000"/>
            <a:ext cx="28800" cy="774000"/>
          </a:xfrm>
          <a:prstGeom prst="rect">
            <a:avLst/>
          </a:prstGeom>
          <a:solidFill>
            <a:srgbClr val="196F74"/>
          </a:solidFill>
          <a:ln>
            <a:solidFill>
              <a:srgbClr val="196F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894000" y="2314800"/>
            <a:ext cx="12060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E2736"/>
                </a:solidFill>
                <a:latin typeface="Microsoft YaHei"/>
              </a:rPr>
              <a:t>Reranker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94000" y="2538000"/>
            <a:ext cx="1206000" cy="395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2B393E"/>
                </a:solidFill>
                <a:latin typeface="Microsoft YaHei"/>
              </a:rPr>
              <a:t>精排 Top5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68000" y="3294000"/>
            <a:ext cx="7200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0">
                <a:solidFill>
                  <a:srgbClr val="647276"/>
                </a:solidFill>
                <a:latin typeface="Microsoft YaHei"/>
              </a:rPr>
              <a:t>索引文件：data/rag/faiss/docs.faiss；元数据：data/rag/faiss/chunks.jsonl。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5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2000" y="234000"/>
            <a:ext cx="792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96F74"/>
                </a:solidFill>
                <a:latin typeface="Microsoft YaHei"/>
              </a:rP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2000" y="424800"/>
            <a:ext cx="774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E2736"/>
                </a:solidFill>
                <a:latin typeface="Microsoft YaHei"/>
              </a:rPr>
              <a:t>RAG前置到标准制定智能体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0000" y="741600"/>
            <a:ext cx="7920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0">
                <a:solidFill>
                  <a:srgbClr val="647276"/>
                </a:solidFill>
                <a:latin typeface="Microsoft YaHei"/>
              </a:rPr>
              <a:t>把本地标准库作为第一证据源，网络搜索和YAML转为补充/兜底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2000" y="1080000"/>
            <a:ext cx="1422000" cy="774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32000" y="1080000"/>
            <a:ext cx="28800" cy="774000"/>
          </a:xfrm>
          <a:prstGeom prst="rect">
            <a:avLst/>
          </a:prstGeom>
          <a:solidFill>
            <a:srgbClr val="196F74"/>
          </a:solidFill>
          <a:ln>
            <a:solidFill>
              <a:srgbClr val="196F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57999" y="1180800"/>
            <a:ext cx="12060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E2736"/>
                </a:solidFill>
                <a:latin typeface="Microsoft YaHei"/>
              </a:rPr>
              <a:t>输入字段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57999" y="1404000"/>
            <a:ext cx="1206000" cy="395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2B393E"/>
                </a:solidFill>
                <a:latin typeface="Microsoft YaHei"/>
              </a:rPr>
              <a:t>工艺/对象/接头
母材/尺寸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872000" y="1468800"/>
            <a:ext cx="115200" cy="0"/>
          </a:xfrm>
          <a:prstGeom prst="line">
            <a:avLst/>
          </a:prstGeom>
          <a:ln w="25400">
            <a:solidFill>
              <a:srgbClr val="196F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016000" y="1080000"/>
            <a:ext cx="1422000" cy="774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016000" y="1080000"/>
            <a:ext cx="28800" cy="774000"/>
          </a:xfrm>
          <a:prstGeom prst="rect">
            <a:avLst/>
          </a:prstGeom>
          <a:solidFill>
            <a:srgbClr val="386999"/>
          </a:solidFill>
          <a:ln>
            <a:solidFill>
              <a:srgbClr val="386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142000" y="1180800"/>
            <a:ext cx="12060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E2736"/>
                </a:solidFill>
                <a:latin typeface="Microsoft YaHei"/>
              </a:rPr>
              <a:t>本地RAG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42000" y="1404000"/>
            <a:ext cx="1206000" cy="395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2B393E"/>
                </a:solidFill>
                <a:latin typeface="Microsoft YaHei"/>
              </a:rPr>
              <a:t>标准PDF证据
表格上下文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456000" y="1468800"/>
            <a:ext cx="115200" cy="0"/>
          </a:xfrm>
          <a:prstGeom prst="line">
            <a:avLst/>
          </a:prstGeom>
          <a:ln w="25400">
            <a:solidFill>
              <a:srgbClr val="196F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3600000" y="1080000"/>
            <a:ext cx="1422000" cy="774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600000" y="1080000"/>
            <a:ext cx="28800" cy="774000"/>
          </a:xfrm>
          <a:prstGeom prst="rect">
            <a:avLst/>
          </a:prstGeom>
          <a:solidFill>
            <a:srgbClr val="70914C"/>
          </a:solidFill>
          <a:ln>
            <a:solidFill>
              <a:srgbClr val="7091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26000" y="1180800"/>
            <a:ext cx="12060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E2736"/>
                </a:solidFill>
                <a:latin typeface="Microsoft YaHei"/>
              </a:rPr>
              <a:t>Tavily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26000" y="1404000"/>
            <a:ext cx="1206000" cy="395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2B393E"/>
                </a:solidFill>
                <a:latin typeface="Microsoft YaHei"/>
              </a:rPr>
              <a:t>网络补充
相似案例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040000" y="1468800"/>
            <a:ext cx="115199" cy="0"/>
          </a:xfrm>
          <a:prstGeom prst="line">
            <a:avLst/>
          </a:prstGeom>
          <a:ln w="25400">
            <a:solidFill>
              <a:srgbClr val="196F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5184000" y="1080000"/>
            <a:ext cx="1422000" cy="774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184000" y="1080000"/>
            <a:ext cx="28800" cy="774000"/>
          </a:xfrm>
          <a:prstGeom prst="rect">
            <a:avLst/>
          </a:prstGeom>
          <a:solidFill>
            <a:srgbClr val="C47E23"/>
          </a:solidFill>
          <a:ln>
            <a:solidFill>
              <a:srgbClr val="C47E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310000" y="1180800"/>
            <a:ext cx="12060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E2736"/>
                </a:solidFill>
                <a:latin typeface="Microsoft YaHei"/>
              </a:rPr>
              <a:t>YAML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10000" y="1404000"/>
            <a:ext cx="1206000" cy="395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2B393E"/>
                </a:solidFill>
                <a:latin typeface="Microsoft YaHei"/>
              </a:rPr>
              <a:t>行业基准
规则兜底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6624000" y="1468800"/>
            <a:ext cx="115200" cy="0"/>
          </a:xfrm>
          <a:prstGeom prst="line">
            <a:avLst/>
          </a:prstGeom>
          <a:ln w="25400">
            <a:solidFill>
              <a:srgbClr val="196F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6768000" y="1080000"/>
            <a:ext cx="1422000" cy="774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768000" y="1080000"/>
            <a:ext cx="28800" cy="774000"/>
          </a:xfrm>
          <a:prstGeom prst="rect">
            <a:avLst/>
          </a:prstGeom>
          <a:solidFill>
            <a:srgbClr val="196F74"/>
          </a:solidFill>
          <a:ln>
            <a:solidFill>
              <a:srgbClr val="196F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94000" y="1180800"/>
            <a:ext cx="12060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E2736"/>
                </a:solidFill>
                <a:latin typeface="Microsoft YaHei"/>
              </a:rPr>
              <a:t>字段输出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94000" y="1404000"/>
            <a:ext cx="1206000" cy="395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2B393E"/>
                </a:solidFill>
                <a:latin typeface="Microsoft YaHei"/>
              </a:rPr>
              <a:t>document_fields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32000" y="2322000"/>
            <a:ext cx="2484000" cy="954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32000" y="2322000"/>
            <a:ext cx="28800" cy="954000"/>
          </a:xfrm>
          <a:prstGeom prst="rect">
            <a:avLst/>
          </a:prstGeom>
          <a:solidFill>
            <a:srgbClr val="196F74"/>
          </a:solidFill>
          <a:ln>
            <a:solidFill>
              <a:srgbClr val="196F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57999" y="2422800"/>
            <a:ext cx="22680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E2736"/>
                </a:solidFill>
                <a:latin typeface="Microsoft YaHei"/>
              </a:rPr>
              <a:t>字段优先级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57999" y="2646000"/>
            <a:ext cx="2268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2B393E"/>
                </a:solidFill>
                <a:latin typeface="Microsoft YaHei"/>
              </a:rPr>
              <a:t>用户硬约束 &gt; RAG证据 &gt; 可信网络证据 &gt; 行业YAML &gt; 规则默认值 &gt; /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060000" y="2322000"/>
            <a:ext cx="2484000" cy="954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060000" y="2322000"/>
            <a:ext cx="28800" cy="954000"/>
          </a:xfrm>
          <a:prstGeom prst="rect">
            <a:avLst/>
          </a:prstGeom>
          <a:solidFill>
            <a:srgbClr val="386999"/>
          </a:solidFill>
          <a:ln>
            <a:solidFill>
              <a:srgbClr val="386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186000" y="2422800"/>
            <a:ext cx="22680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E2736"/>
                </a:solidFill>
                <a:latin typeface="Microsoft YaHei"/>
              </a:rPr>
              <a:t>表格填充策略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186000" y="2646000"/>
            <a:ext cx="2268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2B393E"/>
                </a:solidFill>
                <a:latin typeface="Microsoft YaHei"/>
              </a:rPr>
              <a:t>填充焊材、预热、层间温度、电流、电压、焊接速度等字段时优先依据 RAG 命中的标准表格和上下文。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688000" y="2322000"/>
            <a:ext cx="2484000" cy="954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688000" y="2322000"/>
            <a:ext cx="28800" cy="954000"/>
          </a:xfrm>
          <a:prstGeom prst="rect">
            <a:avLst/>
          </a:prstGeom>
          <a:solidFill>
            <a:srgbClr val="70914C"/>
          </a:solidFill>
          <a:ln>
            <a:solidFill>
              <a:srgbClr val="7091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814000" y="2422800"/>
            <a:ext cx="22680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E2736"/>
                </a:solidFill>
                <a:latin typeface="Microsoft YaHei"/>
              </a:rPr>
              <a:t>LLM约束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814000" y="2646000"/>
            <a:ext cx="2268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2B393E"/>
                </a:solidFill>
                <a:latin typeface="Microsoft YaHei"/>
              </a:rPr>
              <a:t>Prompt 已同步要求只能在 RAG、网络、YAML、规则候选中选择或归纳短值，避免无证据参数。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5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2000" y="234000"/>
            <a:ext cx="792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96F74"/>
                </a:solidFill>
                <a:latin typeface="Microsoft YaHei"/>
              </a:rPr>
              <a:t>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2000" y="424800"/>
            <a:ext cx="774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E2736"/>
                </a:solidFill>
                <a:latin typeface="Microsoft YaHei"/>
              </a:rPr>
              <a:t>新增智能体：非专业描述解析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0000" y="741600"/>
            <a:ext cx="7920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0">
                <a:solidFill>
                  <a:srgbClr val="647276"/>
                </a:solidFill>
                <a:latin typeface="Microsoft YaHei"/>
              </a:rPr>
              <a:t>让用户不懂专业字段也能从自然语言需求进入标准文档生成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2000" y="1080000"/>
            <a:ext cx="2484000" cy="115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32000" y="1080000"/>
            <a:ext cx="28800" cy="1152000"/>
          </a:xfrm>
          <a:prstGeom prst="rect">
            <a:avLst/>
          </a:prstGeom>
          <a:solidFill>
            <a:srgbClr val="196F74"/>
          </a:solidFill>
          <a:ln>
            <a:solidFill>
              <a:srgbClr val="196F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57999" y="1180800"/>
            <a:ext cx="22680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E2736"/>
                </a:solidFill>
                <a:latin typeface="Microsoft YaHei"/>
              </a:rPr>
              <a:t>输入方式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57999" y="1404000"/>
            <a:ext cx="2268000" cy="77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2B393E"/>
                </a:solidFill>
                <a:latin typeface="Microsoft YaHei"/>
              </a:rPr>
              <a:t>用户直接输入描述性文字，例如：我有两块20mm厚的20号钢板，需要帮我生成一份焊接工艺。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060000" y="1080000"/>
            <a:ext cx="2484000" cy="115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060000" y="1080000"/>
            <a:ext cx="28800" cy="1152000"/>
          </a:xfrm>
          <a:prstGeom prst="rect">
            <a:avLst/>
          </a:prstGeom>
          <a:solidFill>
            <a:srgbClr val="386999"/>
          </a:solidFill>
          <a:ln>
            <a:solidFill>
              <a:srgbClr val="386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186000" y="1180800"/>
            <a:ext cx="22680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E2736"/>
                </a:solidFill>
                <a:latin typeface="Microsoft YaHei"/>
              </a:rPr>
              <a:t>解析能力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86000" y="1404000"/>
            <a:ext cx="2268000" cy="77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2B393E"/>
                </a:solidFill>
                <a:latin typeface="Microsoft YaHei"/>
              </a:rPr>
              <a:t>规则抽取明确事实；结合 RAG/Tavily 证据和可选 LLM 归纳补齐 welding_reask_agent 的 5 个必填字段。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88000" y="1080000"/>
            <a:ext cx="2484000" cy="115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688000" y="1080000"/>
            <a:ext cx="28800" cy="1152000"/>
          </a:xfrm>
          <a:prstGeom prst="rect">
            <a:avLst/>
          </a:prstGeom>
          <a:solidFill>
            <a:srgbClr val="70914C"/>
          </a:solidFill>
          <a:ln>
            <a:solidFill>
              <a:srgbClr val="7091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14000" y="1180800"/>
            <a:ext cx="22680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E2736"/>
                </a:solidFill>
                <a:latin typeface="Microsoft YaHei"/>
              </a:rPr>
              <a:t>校验策略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14000" y="1404000"/>
            <a:ext cx="2268000" cy="77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2B393E"/>
                </a:solidFill>
                <a:latin typeface="Microsoft YaHei"/>
              </a:rPr>
              <a:t>非专业模式只对必填字段是否为空做校验；识别后用户仍可在右侧字段面板进行人工修正。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2000" y="2448000"/>
            <a:ext cx="3744000" cy="88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32000" y="2448000"/>
            <a:ext cx="28800" cy="882000"/>
          </a:xfrm>
          <a:prstGeom prst="rect">
            <a:avLst/>
          </a:prstGeom>
          <a:solidFill>
            <a:srgbClr val="C47E23"/>
          </a:solidFill>
          <a:ln>
            <a:solidFill>
              <a:srgbClr val="C47E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57999" y="2548800"/>
            <a:ext cx="35280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E2736"/>
                </a:solidFill>
                <a:latin typeface="Microsoft YaHei"/>
              </a:rPr>
              <a:t>新增API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57999" y="2772000"/>
            <a:ext cx="3528000" cy="50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2B393E"/>
                </a:solidFill>
                <a:latin typeface="Microsoft YaHei"/>
              </a:rPr>
              <a:t>POST /api/nonprofessional/analyze：返回识别字段与缺失问题
POST /api/nonprofessional/generate：完整字段直接进入标准文档生成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428000" y="2448000"/>
            <a:ext cx="3744000" cy="88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428000" y="2448000"/>
            <a:ext cx="28800" cy="882000"/>
          </a:xfrm>
          <a:prstGeom prst="rect">
            <a:avLst/>
          </a:prstGeom>
          <a:solidFill>
            <a:srgbClr val="196F74"/>
          </a:solidFill>
          <a:ln>
            <a:solidFill>
              <a:srgbClr val="196F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54000" y="2548800"/>
            <a:ext cx="35280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E2736"/>
                </a:solidFill>
                <a:latin typeface="Microsoft YaHei"/>
              </a:rPr>
              <a:t>端到端链路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54000" y="2772000"/>
            <a:ext cx="3528000" cy="50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2B393E"/>
                </a:solidFill>
                <a:latin typeface="Microsoft YaHei"/>
              </a:rPr>
              <a:t>NaturalLanguageWeldingAgent → welding_reask_agent → welding_standard_agent → welding_document_agent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5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2000" y="234000"/>
            <a:ext cx="792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96F74"/>
                </a:solidFill>
                <a:latin typeface="Microsoft YaHei"/>
              </a:rPr>
              <a:t>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2000" y="424800"/>
            <a:ext cx="774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E2736"/>
                </a:solidFill>
                <a:latin typeface="Microsoft YaHei"/>
              </a:rPr>
              <a:t>焊接工艺同义词标准化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0000" y="741600"/>
            <a:ext cx="7920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0">
                <a:solidFill>
                  <a:srgbClr val="647276"/>
                </a:solidFill>
                <a:latin typeface="Microsoft YaHei"/>
              </a:rPr>
              <a:t>自然语言可以多样，后续标准制定必须使用统一工艺代号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2000" y="1080000"/>
            <a:ext cx="2484000" cy="81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32000" y="1080000"/>
            <a:ext cx="28800" cy="810000"/>
          </a:xfrm>
          <a:prstGeom prst="rect">
            <a:avLst/>
          </a:prstGeom>
          <a:solidFill>
            <a:srgbClr val="196F74"/>
          </a:solidFill>
          <a:ln>
            <a:solidFill>
              <a:srgbClr val="196F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57999" y="1180800"/>
            <a:ext cx="22680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E2736"/>
                </a:solidFill>
                <a:latin typeface="Microsoft YaHei"/>
              </a:rPr>
              <a:t>SMAW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57999" y="1404000"/>
            <a:ext cx="2268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2B393E"/>
                </a:solidFill>
                <a:latin typeface="Microsoft YaHei"/>
              </a:rPr>
              <a:t>焊条电弧焊 / 手工电弧焊 / 手弧焊 / manual metal arc / MMA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060000" y="1080000"/>
            <a:ext cx="2484000" cy="81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060000" y="1080000"/>
            <a:ext cx="28800" cy="810000"/>
          </a:xfrm>
          <a:prstGeom prst="rect">
            <a:avLst/>
          </a:prstGeom>
          <a:solidFill>
            <a:srgbClr val="386999"/>
          </a:solidFill>
          <a:ln>
            <a:solidFill>
              <a:srgbClr val="386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186000" y="1180800"/>
            <a:ext cx="22680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E2736"/>
                </a:solidFill>
                <a:latin typeface="Microsoft YaHei"/>
              </a:rPr>
              <a:t>GTAW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86000" y="1404000"/>
            <a:ext cx="2268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2B393E"/>
                </a:solidFill>
                <a:latin typeface="Microsoft YaHei"/>
              </a:rPr>
              <a:t>氩弧焊 / 钨极氩弧焊 / 钨极气体保护焊 / TIG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88000" y="1080000"/>
            <a:ext cx="2484000" cy="81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688000" y="1080000"/>
            <a:ext cx="28800" cy="810000"/>
          </a:xfrm>
          <a:prstGeom prst="rect">
            <a:avLst/>
          </a:prstGeom>
          <a:solidFill>
            <a:srgbClr val="70914C"/>
          </a:solidFill>
          <a:ln>
            <a:solidFill>
              <a:srgbClr val="7091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14000" y="1180800"/>
            <a:ext cx="22680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E2736"/>
                </a:solidFill>
                <a:latin typeface="Microsoft YaHei"/>
              </a:rPr>
              <a:t>GMAW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14000" y="1404000"/>
            <a:ext cx="2268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2B393E"/>
                </a:solidFill>
                <a:latin typeface="Microsoft YaHei"/>
              </a:rPr>
              <a:t>气保焊 / 二保焊 / CO2气体保护焊 / MIG / MAG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2000" y="2088000"/>
            <a:ext cx="2484000" cy="81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32000" y="2088000"/>
            <a:ext cx="28800" cy="810000"/>
          </a:xfrm>
          <a:prstGeom prst="rect">
            <a:avLst/>
          </a:prstGeom>
          <a:solidFill>
            <a:srgbClr val="C47E23"/>
          </a:solidFill>
          <a:ln>
            <a:solidFill>
              <a:srgbClr val="C47E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57999" y="2188800"/>
            <a:ext cx="22680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E2736"/>
                </a:solidFill>
                <a:latin typeface="Microsoft YaHei"/>
              </a:rPr>
              <a:t>FCAW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57999" y="2412000"/>
            <a:ext cx="2268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2B393E"/>
                </a:solidFill>
                <a:latin typeface="Microsoft YaHei"/>
              </a:rPr>
              <a:t>药芯焊丝电弧焊 / 药芯焊丝气保焊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060000" y="2088000"/>
            <a:ext cx="2484000" cy="81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060000" y="2088000"/>
            <a:ext cx="28800" cy="810000"/>
          </a:xfrm>
          <a:prstGeom prst="rect">
            <a:avLst/>
          </a:prstGeom>
          <a:solidFill>
            <a:srgbClr val="196F74"/>
          </a:solidFill>
          <a:ln>
            <a:solidFill>
              <a:srgbClr val="196F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186000" y="2188800"/>
            <a:ext cx="22680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E2736"/>
                </a:solidFill>
                <a:latin typeface="Microsoft YaHei"/>
              </a:rPr>
              <a:t>SAW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186000" y="2412000"/>
            <a:ext cx="2268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2B393E"/>
                </a:solidFill>
                <a:latin typeface="Microsoft YaHei"/>
              </a:rPr>
              <a:t>埋弧焊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688000" y="2088000"/>
            <a:ext cx="2484000" cy="81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688000" y="2088000"/>
            <a:ext cx="28800" cy="810000"/>
          </a:xfrm>
          <a:prstGeom prst="rect">
            <a:avLst/>
          </a:prstGeom>
          <a:solidFill>
            <a:srgbClr val="386999"/>
          </a:solidFill>
          <a:ln>
            <a:solidFill>
              <a:srgbClr val="386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814000" y="2188800"/>
            <a:ext cx="22680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E2736"/>
                </a:solidFill>
                <a:latin typeface="Microsoft YaHei"/>
              </a:rPr>
              <a:t>GTAW+SMAW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814000" y="2412000"/>
            <a:ext cx="2268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2B393E"/>
                </a:solidFill>
                <a:latin typeface="Microsoft YaHei"/>
              </a:rPr>
              <a:t>氩弧焊打底、焊条电弧焊填充等组合描述自动归一为复合工艺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8000" y="3221999"/>
            <a:ext cx="7380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0">
                <a:solidFill>
                  <a:srgbClr val="647276"/>
                </a:solidFill>
                <a:latin typeface="Microsoft YaHei"/>
              </a:rPr>
              <a:t>前端焊接工艺字段固定为标准下拉选项，后端 API 返回前已完成归一化。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5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2000" y="234000"/>
            <a:ext cx="792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96F74"/>
                </a:solidFill>
                <a:latin typeface="Microsoft YaHei"/>
              </a:rPr>
              <a:t>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2000" y="424800"/>
            <a:ext cx="774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E2736"/>
                </a:solidFill>
                <a:latin typeface="Microsoft YaHei"/>
              </a:rPr>
              <a:t>前端模块升级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0000" y="741600"/>
            <a:ext cx="7920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0">
                <a:solidFill>
                  <a:srgbClr val="647276"/>
                </a:solidFill>
                <a:latin typeface="Microsoft YaHei"/>
              </a:rPr>
              <a:t>保留专业问答模式，新增非专业描述模式，一套字段面板支撑两种入口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2000" y="1080000"/>
            <a:ext cx="2484000" cy="1134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32000" y="1080000"/>
            <a:ext cx="28800" cy="1134000"/>
          </a:xfrm>
          <a:prstGeom prst="rect">
            <a:avLst/>
          </a:prstGeom>
          <a:solidFill>
            <a:srgbClr val="196F74"/>
          </a:solidFill>
          <a:ln>
            <a:solidFill>
              <a:srgbClr val="196F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57999" y="1180800"/>
            <a:ext cx="22680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E2736"/>
                </a:solidFill>
                <a:latin typeface="Microsoft YaHei"/>
              </a:rPr>
              <a:t>模式切换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57999" y="1404000"/>
            <a:ext cx="2268000" cy="755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2B393E"/>
                </a:solidFill>
                <a:latin typeface="Microsoft YaHei"/>
              </a:rPr>
              <a:t>顶部增加分段控件：专业问答模式 / 非专业描述模式。现有多轮追问流程不受影响。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060000" y="1080000"/>
            <a:ext cx="2484000" cy="1134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060000" y="1080000"/>
            <a:ext cx="28800" cy="1134000"/>
          </a:xfrm>
          <a:prstGeom prst="rect">
            <a:avLst/>
          </a:prstGeom>
          <a:solidFill>
            <a:srgbClr val="386999"/>
          </a:solidFill>
          <a:ln>
            <a:solidFill>
              <a:srgbClr val="386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186000" y="1180800"/>
            <a:ext cx="22680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E2736"/>
                </a:solidFill>
                <a:latin typeface="Microsoft YaHei"/>
              </a:rPr>
              <a:t>非专业工作区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86000" y="1404000"/>
            <a:ext cx="2268000" cy="755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2B393E"/>
                </a:solidFill>
                <a:latin typeface="Microsoft YaHei"/>
              </a:rPr>
              <a:t>左侧大文本框输入需求描述，提供“分析描述”和“生成标准文档”两个核心动作。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88000" y="1080000"/>
            <a:ext cx="2484000" cy="1134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688000" y="1080000"/>
            <a:ext cx="28800" cy="1134000"/>
          </a:xfrm>
          <a:prstGeom prst="rect">
            <a:avLst/>
          </a:prstGeom>
          <a:solidFill>
            <a:srgbClr val="70914C"/>
          </a:solidFill>
          <a:ln>
            <a:solidFill>
              <a:srgbClr val="7091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14000" y="1180800"/>
            <a:ext cx="22680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E2736"/>
                </a:solidFill>
                <a:latin typeface="Microsoft YaHei"/>
              </a:rPr>
              <a:t>字段面板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14000" y="1404000"/>
            <a:ext cx="2268000" cy="755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2B393E"/>
                </a:solidFill>
                <a:latin typeface="Microsoft YaHei"/>
              </a:rPr>
              <a:t>右侧展示自动识别结果。焊接工艺固定标准下拉，其余非专业字段可自由编辑。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3999" y="2448000"/>
            <a:ext cx="738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2B393E"/>
                </a:solidFill>
                <a:latin typeface="Microsoft YaHei"/>
              </a:rPr>
              <a:t>生成时复用现有进度条与下载链接区域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2B393E"/>
                </a:solidFill>
                <a:latin typeface="Microsoft YaHei"/>
              </a:rPr>
              <a:t>字段不完整时返回明确缺失项，不生成空文档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2B393E"/>
                </a:solidFill>
                <a:latin typeface="Microsoft YaHei"/>
              </a:rPr>
              <a:t>前端构建已通过 vue-tsc 与 Vite production build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5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2000" y="234000"/>
            <a:ext cx="792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96F74"/>
                </a:solidFill>
                <a:latin typeface="Microsoft YaHei"/>
              </a:rPr>
              <a:t>08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2000" y="424800"/>
            <a:ext cx="774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E2736"/>
                </a:solidFill>
                <a:latin typeface="Microsoft YaHei"/>
              </a:rPr>
              <a:t>当前系统架构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0000" y="741600"/>
            <a:ext cx="7920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0">
                <a:solidFill>
                  <a:srgbClr val="647276"/>
                </a:solidFill>
                <a:latin typeface="Microsoft YaHei"/>
              </a:rPr>
              <a:t>从输入、知识检索、字段生成到文档落地的多智能体协同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2000" y="1080000"/>
            <a:ext cx="1422000" cy="774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32000" y="1080000"/>
            <a:ext cx="28800" cy="774000"/>
          </a:xfrm>
          <a:prstGeom prst="rect">
            <a:avLst/>
          </a:prstGeom>
          <a:solidFill>
            <a:srgbClr val="196F74"/>
          </a:solidFill>
          <a:ln>
            <a:solidFill>
              <a:srgbClr val="196F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57999" y="1180800"/>
            <a:ext cx="12060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E2736"/>
                </a:solidFill>
                <a:latin typeface="Microsoft YaHei"/>
              </a:rPr>
              <a:t>用户入口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57999" y="1404000"/>
            <a:ext cx="1206000" cy="395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2B393E"/>
                </a:solidFill>
                <a:latin typeface="Microsoft YaHei"/>
              </a:rPr>
              <a:t>专业问答
非专业描述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872000" y="1468800"/>
            <a:ext cx="115200" cy="0"/>
          </a:xfrm>
          <a:prstGeom prst="line">
            <a:avLst/>
          </a:prstGeom>
          <a:ln w="25400">
            <a:solidFill>
              <a:srgbClr val="196F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016000" y="1080000"/>
            <a:ext cx="1422000" cy="774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016000" y="1080000"/>
            <a:ext cx="28800" cy="774000"/>
          </a:xfrm>
          <a:prstGeom prst="rect">
            <a:avLst/>
          </a:prstGeom>
          <a:solidFill>
            <a:srgbClr val="386999"/>
          </a:solidFill>
          <a:ln>
            <a:solidFill>
              <a:srgbClr val="386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142000" y="1180800"/>
            <a:ext cx="12060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E2736"/>
                </a:solidFill>
                <a:latin typeface="Microsoft YaHei"/>
              </a:rPr>
              <a:t>字段层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42000" y="1404000"/>
            <a:ext cx="1206000" cy="395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2B393E"/>
                </a:solidFill>
                <a:latin typeface="Microsoft YaHei"/>
              </a:rPr>
              <a:t>重问校验
自然语言解析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456000" y="1468800"/>
            <a:ext cx="115200" cy="0"/>
          </a:xfrm>
          <a:prstGeom prst="line">
            <a:avLst/>
          </a:prstGeom>
          <a:ln w="25400">
            <a:solidFill>
              <a:srgbClr val="196F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3600000" y="1080000"/>
            <a:ext cx="1422000" cy="774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600000" y="1080000"/>
            <a:ext cx="28800" cy="774000"/>
          </a:xfrm>
          <a:prstGeom prst="rect">
            <a:avLst/>
          </a:prstGeom>
          <a:solidFill>
            <a:srgbClr val="70914C"/>
          </a:solidFill>
          <a:ln>
            <a:solidFill>
              <a:srgbClr val="7091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26000" y="1180800"/>
            <a:ext cx="12060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E2736"/>
                </a:solidFill>
                <a:latin typeface="Microsoft YaHei"/>
              </a:rPr>
              <a:t>知识层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26000" y="1404000"/>
            <a:ext cx="1206000" cy="395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2B393E"/>
                </a:solidFill>
                <a:latin typeface="Microsoft YaHei"/>
              </a:rPr>
              <a:t>MinerU + FAISS
Tavily + YAML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040000" y="1468800"/>
            <a:ext cx="115199" cy="0"/>
          </a:xfrm>
          <a:prstGeom prst="line">
            <a:avLst/>
          </a:prstGeom>
          <a:ln w="25400">
            <a:solidFill>
              <a:srgbClr val="196F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5184000" y="1080000"/>
            <a:ext cx="1422000" cy="774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184000" y="1080000"/>
            <a:ext cx="28800" cy="774000"/>
          </a:xfrm>
          <a:prstGeom prst="rect">
            <a:avLst/>
          </a:prstGeom>
          <a:solidFill>
            <a:srgbClr val="C47E23"/>
          </a:solidFill>
          <a:ln>
            <a:solidFill>
              <a:srgbClr val="C47E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310000" y="1180800"/>
            <a:ext cx="12060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E2736"/>
                </a:solidFill>
                <a:latin typeface="Microsoft YaHei"/>
              </a:rPr>
              <a:t>标准层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10000" y="1404000"/>
            <a:ext cx="1206000" cy="395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2B393E"/>
                </a:solidFill>
                <a:latin typeface="Microsoft YaHei"/>
              </a:rPr>
              <a:t>RAG优先字段生成
LLM受约束归纳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6624000" y="1468800"/>
            <a:ext cx="115200" cy="0"/>
          </a:xfrm>
          <a:prstGeom prst="line">
            <a:avLst/>
          </a:prstGeom>
          <a:ln w="25400">
            <a:solidFill>
              <a:srgbClr val="196F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6768000" y="1080000"/>
            <a:ext cx="1422000" cy="774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768000" y="1080000"/>
            <a:ext cx="28800" cy="774000"/>
          </a:xfrm>
          <a:prstGeom prst="rect">
            <a:avLst/>
          </a:prstGeom>
          <a:solidFill>
            <a:srgbClr val="196F74"/>
          </a:solidFill>
          <a:ln>
            <a:solidFill>
              <a:srgbClr val="196F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94000" y="1180800"/>
            <a:ext cx="12060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E2736"/>
                </a:solidFill>
                <a:latin typeface="Microsoft YaHei"/>
              </a:rPr>
              <a:t>交付层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94000" y="1404000"/>
            <a:ext cx="1206000" cy="395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2B393E"/>
                </a:solidFill>
                <a:latin typeface="Microsoft YaHei"/>
              </a:rPr>
              <a:t>DOCX模板填充
下载文档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32000" y="2322000"/>
            <a:ext cx="7740000" cy="9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32000" y="2322000"/>
            <a:ext cx="28800" cy="972000"/>
          </a:xfrm>
          <a:prstGeom prst="rect">
            <a:avLst/>
          </a:prstGeom>
          <a:solidFill>
            <a:srgbClr val="196F74"/>
          </a:solidFill>
          <a:ln>
            <a:solidFill>
              <a:srgbClr val="196F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57999" y="2422800"/>
            <a:ext cx="7523999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E2736"/>
                </a:solidFill>
                <a:latin typeface="Microsoft YaHei"/>
              </a:rPr>
              <a:t>工程模块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57999" y="2646000"/>
            <a:ext cx="7523999" cy="59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2B393E"/>
                </a:solidFill>
                <a:latin typeface="Microsoft YaHei"/>
              </a:rPr>
              <a:t>src/pipeline_welding/agents：四类智能体；src/pipeline_welding/rag：混合检索；src/pipeline_welding/api：FastAPI接口；frontend/src：Vue工作台；configs：模型、RAG、MCP与行业规则配置。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5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2000" y="234000"/>
            <a:ext cx="792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96F74"/>
                </a:solidFill>
                <a:latin typeface="Microsoft YaHei"/>
              </a:rPr>
              <a:t>09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2000" y="424800"/>
            <a:ext cx="774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E2736"/>
                </a:solidFill>
                <a:latin typeface="Microsoft YaHei"/>
              </a:rPr>
              <a:t>端到端示例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0000" y="741600"/>
            <a:ext cx="7920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0">
                <a:solidFill>
                  <a:srgbClr val="647276"/>
                </a:solidFill>
                <a:latin typeface="Microsoft YaHei"/>
              </a:rPr>
              <a:t>从一句非专业描述到可下载的焊接工艺文档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2000" y="1080000"/>
            <a:ext cx="2484000" cy="9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32000" y="1080000"/>
            <a:ext cx="28800" cy="972000"/>
          </a:xfrm>
          <a:prstGeom prst="rect">
            <a:avLst/>
          </a:prstGeom>
          <a:solidFill>
            <a:srgbClr val="196F74"/>
          </a:solidFill>
          <a:ln>
            <a:solidFill>
              <a:srgbClr val="196F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57999" y="1180800"/>
            <a:ext cx="22680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E2736"/>
                </a:solidFill>
                <a:latin typeface="Microsoft YaHei"/>
              </a:rPr>
              <a:t>用户描述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57999" y="1404000"/>
            <a:ext cx="2268000" cy="59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2B393E"/>
                </a:solidFill>
                <a:latin typeface="Microsoft YaHei"/>
              </a:rPr>
              <a:t>我有两块20mm厚的20号钢板，想用焊条电弧焊生成焊接工艺。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060000" y="1080000"/>
            <a:ext cx="2484000" cy="9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060000" y="1080000"/>
            <a:ext cx="28800" cy="972000"/>
          </a:xfrm>
          <a:prstGeom prst="rect">
            <a:avLst/>
          </a:prstGeom>
          <a:solidFill>
            <a:srgbClr val="386999"/>
          </a:solidFill>
          <a:ln>
            <a:solidFill>
              <a:srgbClr val="386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186000" y="1180800"/>
            <a:ext cx="22680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E2736"/>
                </a:solidFill>
                <a:latin typeface="Microsoft YaHei"/>
              </a:rPr>
              <a:t>自动字段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86000" y="1404000"/>
            <a:ext cx="2268000" cy="59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2B393E"/>
                </a:solidFill>
                <a:latin typeface="Microsoft YaHei"/>
              </a:rPr>
              <a:t>welding_process: SMAW
welding_object: 板材
joint_type: 对接
base_material: 20#
base_thickness_or_diameter: 板厚 20 mm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88000" y="1080000"/>
            <a:ext cx="2484000" cy="9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688000" y="1080000"/>
            <a:ext cx="28800" cy="972000"/>
          </a:xfrm>
          <a:prstGeom prst="rect">
            <a:avLst/>
          </a:prstGeom>
          <a:solidFill>
            <a:srgbClr val="70914C"/>
          </a:solidFill>
          <a:ln>
            <a:solidFill>
              <a:srgbClr val="7091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14000" y="1180800"/>
            <a:ext cx="22680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E2736"/>
                </a:solidFill>
                <a:latin typeface="Microsoft YaHei"/>
              </a:rPr>
              <a:t>后续生成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14000" y="1404000"/>
            <a:ext cx="2268000" cy="59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2B393E"/>
                </a:solidFill>
                <a:latin typeface="Microsoft YaHei"/>
              </a:rPr>
              <a:t>标准制定智能体优先使用本地 RAG 证据，再由网络/YAML补齐，最终写入 MHPWPS-062.docx。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2000" y="2484000"/>
            <a:ext cx="1422000" cy="774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32000" y="2484000"/>
            <a:ext cx="28800" cy="774000"/>
          </a:xfrm>
          <a:prstGeom prst="rect">
            <a:avLst/>
          </a:prstGeom>
          <a:solidFill>
            <a:srgbClr val="196F74"/>
          </a:solidFill>
          <a:ln>
            <a:solidFill>
              <a:srgbClr val="196F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57999" y="2584800"/>
            <a:ext cx="12060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E2736"/>
                </a:solidFill>
                <a:latin typeface="Microsoft YaHei"/>
              </a:rPr>
              <a:t>分析描述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57999" y="2808000"/>
            <a:ext cx="1206000" cy="395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2B393E"/>
                </a:solidFill>
                <a:latin typeface="Microsoft YaHei"/>
              </a:rPr>
              <a:t>字段识别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1872000" y="2872800"/>
            <a:ext cx="115200" cy="0"/>
          </a:xfrm>
          <a:prstGeom prst="line">
            <a:avLst/>
          </a:prstGeom>
          <a:ln w="25400">
            <a:solidFill>
              <a:srgbClr val="196F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2016000" y="2484000"/>
            <a:ext cx="1422000" cy="774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016000" y="2484000"/>
            <a:ext cx="28800" cy="774000"/>
          </a:xfrm>
          <a:prstGeom prst="rect">
            <a:avLst/>
          </a:prstGeom>
          <a:solidFill>
            <a:srgbClr val="386999"/>
          </a:solidFill>
          <a:ln>
            <a:solidFill>
              <a:srgbClr val="386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142000" y="2584800"/>
            <a:ext cx="12060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E2736"/>
                </a:solidFill>
                <a:latin typeface="Microsoft YaHei"/>
              </a:rPr>
              <a:t>人工修正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42000" y="2808000"/>
            <a:ext cx="1206000" cy="395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2B393E"/>
                </a:solidFill>
                <a:latin typeface="Microsoft YaHei"/>
              </a:rPr>
              <a:t>可选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3456000" y="2872800"/>
            <a:ext cx="115200" cy="0"/>
          </a:xfrm>
          <a:prstGeom prst="line">
            <a:avLst/>
          </a:prstGeom>
          <a:ln w="25400">
            <a:solidFill>
              <a:srgbClr val="196F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3600000" y="2484000"/>
            <a:ext cx="1422000" cy="774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600000" y="2484000"/>
            <a:ext cx="28800" cy="774000"/>
          </a:xfrm>
          <a:prstGeom prst="rect">
            <a:avLst/>
          </a:prstGeom>
          <a:solidFill>
            <a:srgbClr val="70914C"/>
          </a:solidFill>
          <a:ln>
            <a:solidFill>
              <a:srgbClr val="7091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726000" y="2584800"/>
            <a:ext cx="12060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E2736"/>
                </a:solidFill>
                <a:latin typeface="Microsoft YaHei"/>
              </a:rPr>
              <a:t>标准制定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726000" y="2808000"/>
            <a:ext cx="1206000" cy="395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2B393E"/>
                </a:solidFill>
                <a:latin typeface="Microsoft YaHei"/>
              </a:rPr>
              <a:t>RAG优先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5040000" y="2872800"/>
            <a:ext cx="115199" cy="0"/>
          </a:xfrm>
          <a:prstGeom prst="line">
            <a:avLst/>
          </a:prstGeom>
          <a:ln w="25400">
            <a:solidFill>
              <a:srgbClr val="196F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5184000" y="2484000"/>
            <a:ext cx="1422000" cy="774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184000" y="2484000"/>
            <a:ext cx="28800" cy="774000"/>
          </a:xfrm>
          <a:prstGeom prst="rect">
            <a:avLst/>
          </a:prstGeom>
          <a:solidFill>
            <a:srgbClr val="C47E23"/>
          </a:solidFill>
          <a:ln>
            <a:solidFill>
              <a:srgbClr val="C47E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310000" y="2584800"/>
            <a:ext cx="12060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E2736"/>
                </a:solidFill>
                <a:latin typeface="Microsoft YaHei"/>
              </a:rPr>
              <a:t>模板填充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310000" y="2808000"/>
            <a:ext cx="1206000" cy="395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2B393E"/>
                </a:solidFill>
                <a:latin typeface="Microsoft YaHei"/>
              </a:rPr>
              <a:t>DOCX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6624000" y="2872800"/>
            <a:ext cx="115200" cy="0"/>
          </a:xfrm>
          <a:prstGeom prst="line">
            <a:avLst/>
          </a:prstGeom>
          <a:ln w="25400">
            <a:solidFill>
              <a:srgbClr val="196F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6"/>
          <p:cNvSpPr/>
          <p:nvPr/>
        </p:nvSpPr>
        <p:spPr>
          <a:xfrm>
            <a:off x="6768000" y="2484000"/>
            <a:ext cx="1422000" cy="774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768000" y="2484000"/>
            <a:ext cx="28800" cy="774000"/>
          </a:xfrm>
          <a:prstGeom prst="rect">
            <a:avLst/>
          </a:prstGeom>
          <a:solidFill>
            <a:srgbClr val="196F74"/>
          </a:solidFill>
          <a:ln>
            <a:solidFill>
              <a:srgbClr val="196F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894000" y="2584800"/>
            <a:ext cx="12060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E2736"/>
                </a:solidFill>
                <a:latin typeface="Microsoft YaHei"/>
              </a:rPr>
              <a:t>下载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94000" y="2808000"/>
            <a:ext cx="1206000" cy="395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2B393E"/>
                </a:solidFill>
                <a:latin typeface="Microsoft YaHei"/>
              </a:rPr>
              <a:t>结果文件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5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2000" y="234000"/>
            <a:ext cx="792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96F74"/>
                </a:solidFill>
                <a:latin typeface="Microsoft YaHei"/>
              </a:rPr>
              <a:t>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2000" y="424800"/>
            <a:ext cx="774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E2736"/>
                </a:solidFill>
                <a:latin typeface="Microsoft YaHei"/>
              </a:rPr>
              <a:t>测试与验证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0000" y="741600"/>
            <a:ext cx="7920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0">
                <a:solidFill>
                  <a:srgbClr val="647276"/>
                </a:solidFill>
                <a:latin typeface="Microsoft YaHei"/>
              </a:rPr>
              <a:t>用自动化回归保证新链路不破坏旧功能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2000" y="1080000"/>
            <a:ext cx="1565999" cy="720000"/>
          </a:xfrm>
          <a:prstGeom prst="roundRect">
            <a:avLst/>
          </a:prstGeom>
          <a:solidFill>
            <a:srgbClr val="FFFFFF"/>
          </a:solidFill>
          <a:ln>
            <a:solidFill>
              <a:srgbClr val="D8E2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32000" y="1144800"/>
            <a:ext cx="1565999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196F74"/>
                </a:solidFill>
                <a:latin typeface="Microsoft YaHei"/>
              </a:rPr>
              <a:t>44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5999" y="1468800"/>
            <a:ext cx="1458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>
                <a:solidFill>
                  <a:srgbClr val="647276"/>
                </a:solidFill>
                <a:latin typeface="Microsoft YaHei"/>
              </a:rPr>
              <a:t>pytest回归测试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160000" y="1080000"/>
            <a:ext cx="1565999" cy="720000"/>
          </a:xfrm>
          <a:prstGeom prst="roundRect">
            <a:avLst/>
          </a:prstGeom>
          <a:solidFill>
            <a:srgbClr val="FFFFFF"/>
          </a:solidFill>
          <a:ln>
            <a:solidFill>
              <a:srgbClr val="D8E2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160000" y="1144800"/>
            <a:ext cx="1565999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386999"/>
                </a:solidFill>
                <a:latin typeface="Microsoft YaHei"/>
              </a:rPr>
              <a:t>通过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14000" y="1468800"/>
            <a:ext cx="1458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>
                <a:solidFill>
                  <a:srgbClr val="647276"/>
                </a:solidFill>
                <a:latin typeface="Microsoft YaHei"/>
              </a:rPr>
              <a:t>python compileall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888000" y="1080000"/>
            <a:ext cx="1565999" cy="720000"/>
          </a:xfrm>
          <a:prstGeom prst="roundRect">
            <a:avLst/>
          </a:prstGeom>
          <a:solidFill>
            <a:srgbClr val="FFFFFF"/>
          </a:solidFill>
          <a:ln>
            <a:solidFill>
              <a:srgbClr val="D8E2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88000" y="1144800"/>
            <a:ext cx="1565999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70914C"/>
                </a:solidFill>
                <a:latin typeface="Microsoft YaHei"/>
              </a:rPr>
              <a:t>通过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42000" y="1468800"/>
            <a:ext cx="1458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>
                <a:solidFill>
                  <a:srgbClr val="647276"/>
                </a:solidFill>
                <a:latin typeface="Microsoft YaHei"/>
              </a:rPr>
              <a:t>npm run build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16000" y="1080000"/>
            <a:ext cx="1565999" cy="720000"/>
          </a:xfrm>
          <a:prstGeom prst="roundRect">
            <a:avLst/>
          </a:prstGeom>
          <a:solidFill>
            <a:srgbClr val="FFFFFF"/>
          </a:solidFill>
          <a:ln>
            <a:solidFill>
              <a:srgbClr val="D8E2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16000" y="1144800"/>
            <a:ext cx="1565999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C47E23"/>
                </a:solidFill>
                <a:latin typeface="Microsoft YaHei"/>
              </a:rPr>
              <a:t>通过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70000" y="1468800"/>
            <a:ext cx="1458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>
                <a:solidFill>
                  <a:srgbClr val="647276"/>
                </a:solidFill>
                <a:latin typeface="Microsoft YaHei"/>
              </a:rPr>
              <a:t>RAG脚本CLI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2000" y="2178000"/>
            <a:ext cx="2484000" cy="9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32000" y="2178000"/>
            <a:ext cx="28800" cy="972000"/>
          </a:xfrm>
          <a:prstGeom prst="rect">
            <a:avLst/>
          </a:prstGeom>
          <a:solidFill>
            <a:srgbClr val="196F74"/>
          </a:solidFill>
          <a:ln>
            <a:solidFill>
              <a:srgbClr val="196F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57999" y="2278800"/>
            <a:ext cx="22680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E2736"/>
                </a:solidFill>
                <a:latin typeface="Microsoft YaHei"/>
              </a:rPr>
              <a:t>后端覆盖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57999" y="2502000"/>
            <a:ext cx="2268000" cy="59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2B393E"/>
                </a:solidFill>
                <a:latin typeface="Microsoft YaHei"/>
              </a:rPr>
              <a:t>自然语言解析、工艺同义词归一、API analyze/generate、RAG候选优先级、文档字段填充。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060000" y="2178000"/>
            <a:ext cx="2484000" cy="9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060000" y="2178000"/>
            <a:ext cx="28800" cy="972000"/>
          </a:xfrm>
          <a:prstGeom prst="rect">
            <a:avLst/>
          </a:prstGeom>
          <a:solidFill>
            <a:srgbClr val="386999"/>
          </a:solidFill>
          <a:ln>
            <a:solidFill>
              <a:srgbClr val="386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186000" y="2278800"/>
            <a:ext cx="22680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E2736"/>
                </a:solidFill>
                <a:latin typeface="Microsoft YaHei"/>
              </a:rPr>
              <a:t>前端验证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186000" y="2502000"/>
            <a:ext cx="2268000" cy="59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2B393E"/>
                </a:solidFill>
                <a:latin typeface="Microsoft YaHei"/>
              </a:rPr>
              <a:t>Vue 类型检查和生产构建通过；专业模式与非专业模式共享字段面板但行为分离。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688000" y="2178000"/>
            <a:ext cx="2484000" cy="9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688000" y="2178000"/>
            <a:ext cx="28800" cy="972000"/>
          </a:xfrm>
          <a:prstGeom prst="rect">
            <a:avLst/>
          </a:prstGeom>
          <a:solidFill>
            <a:srgbClr val="70914C"/>
          </a:solidFill>
          <a:ln>
            <a:solidFill>
              <a:srgbClr val="7091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814000" y="2278800"/>
            <a:ext cx="22680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E2736"/>
                </a:solidFill>
                <a:latin typeface="Microsoft YaHei"/>
              </a:rPr>
              <a:t>真实检索冒烟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814000" y="2502000"/>
            <a:ext cx="2268000" cy="59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2B393E"/>
                </a:solidFill>
                <a:latin typeface="Microsoft YaHei"/>
              </a:rPr>
              <a:t>BGE-M3 与 BGE-Reranker 服务在线时，示例查询可命中 GB/T 31032 表格片段并返回页码、表头和上下文。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5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2000" y="234000"/>
            <a:ext cx="792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96F74"/>
                </a:solidFill>
                <a:latin typeface="Microsoft YaHei"/>
              </a:rPr>
              <a:t>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2000" y="424800"/>
            <a:ext cx="774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E2736"/>
                </a:solidFill>
                <a:latin typeface="Microsoft YaHei"/>
              </a:rPr>
              <a:t>应用价值与阶段收益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0000" y="741600"/>
            <a:ext cx="7920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0">
                <a:solidFill>
                  <a:srgbClr val="647276"/>
                </a:solidFill>
                <a:latin typeface="Microsoft YaHei"/>
              </a:rPr>
              <a:t>当前系统已经从“规则问答”升级为“知识增强的文档生成工作台”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2000" y="1080000"/>
            <a:ext cx="2484000" cy="1134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32000" y="1080000"/>
            <a:ext cx="28800" cy="1134000"/>
          </a:xfrm>
          <a:prstGeom prst="rect">
            <a:avLst/>
          </a:prstGeom>
          <a:solidFill>
            <a:srgbClr val="196F74"/>
          </a:solidFill>
          <a:ln>
            <a:solidFill>
              <a:srgbClr val="196F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57999" y="1180800"/>
            <a:ext cx="22680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E2736"/>
                </a:solidFill>
                <a:latin typeface="Microsoft YaHei"/>
              </a:rPr>
              <a:t>降低使用门槛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57999" y="1404000"/>
            <a:ext cx="2268000" cy="755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2B393E"/>
                </a:solidFill>
                <a:latin typeface="Microsoft YaHei"/>
              </a:rPr>
              <a:t>非专业用户无需理解全部字段，描述需求即可得到可编辑字段，减少沟通轮次。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060000" y="1080000"/>
            <a:ext cx="2484000" cy="1134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060000" y="1080000"/>
            <a:ext cx="28800" cy="1134000"/>
          </a:xfrm>
          <a:prstGeom prst="rect">
            <a:avLst/>
          </a:prstGeom>
          <a:solidFill>
            <a:srgbClr val="386999"/>
          </a:solidFill>
          <a:ln>
            <a:solidFill>
              <a:srgbClr val="386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186000" y="1180800"/>
            <a:ext cx="22680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E2736"/>
                </a:solidFill>
                <a:latin typeface="Microsoft YaHei"/>
              </a:rPr>
              <a:t>增强可追溯性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86000" y="1404000"/>
            <a:ext cx="2268000" cy="755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2B393E"/>
                </a:solidFill>
                <a:latin typeface="Microsoft YaHei"/>
              </a:rPr>
              <a:t>标准字段来自本地 PDF 知识库、网络证据和 YAML 规则，表格 chunk 保留页码与表头。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88000" y="1080000"/>
            <a:ext cx="2484000" cy="1134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688000" y="1080000"/>
            <a:ext cx="28800" cy="1134000"/>
          </a:xfrm>
          <a:prstGeom prst="rect">
            <a:avLst/>
          </a:prstGeom>
          <a:solidFill>
            <a:srgbClr val="70914C"/>
          </a:solidFill>
          <a:ln>
            <a:solidFill>
              <a:srgbClr val="7091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14000" y="1180800"/>
            <a:ext cx="22680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E2736"/>
                </a:solidFill>
                <a:latin typeface="Microsoft YaHei"/>
              </a:rPr>
              <a:t>提升生成质量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14000" y="1404000"/>
            <a:ext cx="2268000" cy="755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2B393E"/>
                </a:solidFill>
                <a:latin typeface="Microsoft YaHei"/>
              </a:rPr>
              <a:t>RAG优先、RRF融合、Reranker精排和 Prompt 约束共同降低无证据参数和模板污染风险。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2000" y="2448000"/>
            <a:ext cx="7740000" cy="774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32000" y="2448000"/>
            <a:ext cx="28800" cy="774000"/>
          </a:xfrm>
          <a:prstGeom prst="rect">
            <a:avLst/>
          </a:prstGeom>
          <a:solidFill>
            <a:srgbClr val="C47E23"/>
          </a:solidFill>
          <a:ln>
            <a:solidFill>
              <a:srgbClr val="C47E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57999" y="2548800"/>
            <a:ext cx="7523999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E2736"/>
                </a:solidFill>
                <a:latin typeface="Microsoft YaHei"/>
              </a:rPr>
              <a:t>阶段结论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57999" y="2772000"/>
            <a:ext cx="7523999" cy="395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2B393E"/>
                </a:solidFill>
                <a:latin typeface="Microsoft YaHei"/>
              </a:rPr>
              <a:t>系统已具备离线知识库构建、混合检索、字段智能补齐、标准化工艺归一、DOCX自动生成和前端双模式交互能力，可进入更多样例验证与业务规则精修阶段。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5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2000" y="234000"/>
            <a:ext cx="792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96F74"/>
                </a:solidFill>
                <a:latin typeface="Microsoft YaHei"/>
              </a:rPr>
              <a:t>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2000" y="424800"/>
            <a:ext cx="774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E2736"/>
                </a:solidFill>
                <a:latin typeface="Microsoft YaHei"/>
              </a:rPr>
              <a:t>下一步计划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0000" y="741600"/>
            <a:ext cx="7920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0">
                <a:solidFill>
                  <a:srgbClr val="647276"/>
                </a:solidFill>
                <a:latin typeface="Microsoft YaHei"/>
              </a:rPr>
              <a:t>围绕数据质量、工程可用性和业务可信度继续增强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2000" y="1080000"/>
            <a:ext cx="2484000" cy="1188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32000" y="1080000"/>
            <a:ext cx="28800" cy="1188000"/>
          </a:xfrm>
          <a:prstGeom prst="rect">
            <a:avLst/>
          </a:prstGeom>
          <a:solidFill>
            <a:srgbClr val="196F74"/>
          </a:solidFill>
          <a:ln>
            <a:solidFill>
              <a:srgbClr val="196F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57999" y="1180800"/>
            <a:ext cx="22680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E2736"/>
                </a:solidFill>
                <a:latin typeface="Microsoft YaHei"/>
              </a:rPr>
              <a:t>数据层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57999" y="1404000"/>
            <a:ext cx="2268000" cy="8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2B393E"/>
                </a:solidFill>
                <a:latin typeface="Microsoft YaHei"/>
              </a:rPr>
              <a:t>补充企业历史 WPS/PQR 样本；对 MinerU 解析失败或图片型表格进行人工复核；沉淀字段级来源标注。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060000" y="1080000"/>
            <a:ext cx="2484000" cy="1188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060000" y="1080000"/>
            <a:ext cx="28800" cy="1188000"/>
          </a:xfrm>
          <a:prstGeom prst="rect">
            <a:avLst/>
          </a:prstGeom>
          <a:solidFill>
            <a:srgbClr val="386999"/>
          </a:solidFill>
          <a:ln>
            <a:solidFill>
              <a:srgbClr val="386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186000" y="1180800"/>
            <a:ext cx="22680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E2736"/>
                </a:solidFill>
                <a:latin typeface="Microsoft YaHei"/>
              </a:rPr>
              <a:t>检索层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86000" y="1404000"/>
            <a:ext cx="2268000" cy="8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2B393E"/>
                </a:solidFill>
                <a:latin typeface="Microsoft YaHei"/>
              </a:rPr>
              <a:t>加入查询改写和字段定向检索；根据表格/文本类型调权；优化大表 chunk 的召回粒度。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88000" y="1080000"/>
            <a:ext cx="2484000" cy="1188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688000" y="1080000"/>
            <a:ext cx="28800" cy="1188000"/>
          </a:xfrm>
          <a:prstGeom prst="rect">
            <a:avLst/>
          </a:prstGeom>
          <a:solidFill>
            <a:srgbClr val="70914C"/>
          </a:solidFill>
          <a:ln>
            <a:solidFill>
              <a:srgbClr val="7091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14000" y="1180800"/>
            <a:ext cx="22680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E2736"/>
                </a:solidFill>
                <a:latin typeface="Microsoft YaHei"/>
              </a:rPr>
              <a:t>产品层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14000" y="1404000"/>
            <a:ext cx="2268000" cy="8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2B393E"/>
                </a:solidFill>
                <a:latin typeface="Microsoft YaHei"/>
              </a:rPr>
              <a:t>增加生成结果预览、字段来源展示、人工确认记录和导出前检查清单。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2000" y="2484000"/>
            <a:ext cx="7740000" cy="75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32000" y="2484000"/>
            <a:ext cx="28800" cy="756000"/>
          </a:xfrm>
          <a:prstGeom prst="rect">
            <a:avLst/>
          </a:prstGeom>
          <a:solidFill>
            <a:srgbClr val="C47E23"/>
          </a:solidFill>
          <a:ln>
            <a:solidFill>
              <a:srgbClr val="C47E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57999" y="2584800"/>
            <a:ext cx="7523999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E2736"/>
                </a:solidFill>
                <a:latin typeface="Microsoft YaHei"/>
              </a:rPr>
              <a:t>近期重点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57999" y="2808000"/>
            <a:ext cx="7523999" cy="37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2B393E"/>
                </a:solidFill>
                <a:latin typeface="Microsoft YaHei"/>
              </a:rPr>
              <a:t>用典型材料和工艺场景做批量案例测试：20#钢板、Q345管道、A106 Gr.B、L245/L360管线钢，验证字段准确率和人工修正成本。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5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2000" y="792000"/>
            <a:ext cx="288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0E2736"/>
                </a:solidFill>
                <a:latin typeface="Microsoft YaHei"/>
              </a:rPr>
              <a:t>谢谢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68000" y="1440000"/>
            <a:ext cx="504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196F74"/>
                </a:solidFill>
                <a:latin typeface="Microsoft YaHei"/>
              </a:rPr>
              <a:t>PipelineWelding · 管道焊接标准生成多智能体系统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68000" y="1800000"/>
            <a:ext cx="648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2B393E"/>
                </a:solidFill>
                <a:latin typeface="Microsoft YaHei"/>
              </a:rPr>
              <a:t>当前进展：MinerU知识库 · FAISS混合检索 · RAG优先标准制定 · 非专业描述入口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68000" y="3168000"/>
            <a:ext cx="2880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647276"/>
                </a:solidFill>
                <a:latin typeface="Microsoft YaHei"/>
              </a:rPr>
              <a:t>厚德 · 博学 · 求是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